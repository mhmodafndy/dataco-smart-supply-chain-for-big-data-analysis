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Noto Sans Arabic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otoSansArabic-bold.fntdata"/><Relationship Id="rId16" Type="http://schemas.openxmlformats.org/officeDocument/2006/relationships/font" Target="fonts/NotoSansArabic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24087" y="2114550"/>
            <a:ext cx="7743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STRATEGIC REPORT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30491" y="2619375"/>
            <a:ext cx="8131016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المحور الأول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30491" y="3381375"/>
            <a:ext cx="8131016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سلوك العملاء والأسواق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4524375"/>
            <a:ext cx="952500" cy="476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1019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334125" y="3229719"/>
            <a:ext cx="555069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هيمنة الأسواق الرئيسية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34125" y="4086969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هناك 5 أسواق رئيسية تسيطر على إجمالي المبيعات، مع تركز كبير في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بورتو ريكو، الولايات المتحدة، وأمريكا اللاتينية.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334125" y="4925169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تكرر اسم الولايات المتحدة 4 مرات في قائمة الأعلى مبيعاً مما يعكس تنوعاً جغرافياً داخل الدولة الواحدة.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2825" y="2210544"/>
            <a:ext cx="229552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30956" y="781794"/>
            <a:ext cx="11351418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1.1 التوزيع الجغرافي للمبيعات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1477625" y="781794"/>
            <a:ext cx="142875" cy="10382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99" y="2458194"/>
            <a:ext cx="34924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58194"/>
            <a:ext cx="3492549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648" y="2458194"/>
            <a:ext cx="349240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5706219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التركيز الإعلاني على المناطق الأعلى شراءً هو قرار استراتيجي منخفض المخاطر لضمان التوسع المستدام.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518624" y="2848719"/>
            <a:ext cx="271135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15%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18624" y="4353669"/>
            <a:ext cx="27113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ميزانية تسويق رقمي مقترحة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740324" y="2848719"/>
            <a:ext cx="2711499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3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740324" y="4353669"/>
            <a:ext cx="271149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أهم أسواق مستهدفة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62173" y="2848719"/>
            <a:ext cx="2711350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12%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62173" y="4353669"/>
            <a:ext cx="27113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نمو متوقع في المبيعات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30956" y="982563"/>
            <a:ext cx="11351418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توصية: التركيز على النمو الآمن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11477625" y="982563"/>
            <a:ext cx="142875" cy="10382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25156"/>
            <a:ext cx="110490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43881"/>
            <a:ext cx="11049000" cy="42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57250" y="5320456"/>
            <a:ext cx="103822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التوصية: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زيادة معدل تكرار الشراء لشريحة </a:t>
            </a:r>
            <a:r>
              <a:rPr b="1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Corporate</a:t>
            </a: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بنسبة 20% عبر برنامج ولاء مخصص، لتعظيم العائد من الـ AOV المرتفع.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30956" y="824656"/>
            <a:ext cx="11351418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1.2 تحليل شرائح العملاء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11477625" y="824656"/>
            <a:ext cx="142875" cy="10382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2869"/>
            <a:ext cx="11049000" cy="516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6334125" y="6087219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يناير (الذروة):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ضرورة زيادة المخزون بنسبة 20% وتكثيف الإعلانات لتقليل نفاذ البضاعة.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6087219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ديسمبر (الركود):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تطبيق خصومات ترويجية (10-15%) لتحفيز المبيعات وتحريك الراكد.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30956" y="343644"/>
            <a:ext cx="11351418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1.3 الموسمية: تحليل الذروة والركود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11477625" y="343644"/>
            <a:ext cx="142875" cy="10382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12857" y="2677269"/>
            <a:ext cx="2807642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/>
          <p:nvPr/>
        </p:nvSpPr>
        <p:spPr>
          <a:xfrm>
            <a:off x="8343277" y="2207689"/>
            <a:ext cx="4272910" cy="4272910"/>
          </a:xfrm>
          <a:prstGeom prst="roundRect">
            <a:avLst>
              <a:gd fmla="val 50000" name="adj"/>
            </a:avLst>
          </a:prstGeom>
          <a:noFill/>
          <a:ln cap="flat" cmpd="sng" w="3810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9635579" y="3582144"/>
            <a:ext cx="1162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57%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عملاء متكررون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71500" y="3143994"/>
            <a:ext cx="7653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قوة الاحتفاظ بالعملاء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571500" y="4001244"/>
            <a:ext cx="7288857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الشركة تمتلك قاعدة قوية حيث أن أكثر من نصف العملاء يعودون للشراء مرة أخرى بمتوسط 4.8 أوردر لكل عميل.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4839444"/>
            <a:ext cx="690785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إطلاق حملة Email Retention تستهدف العملاء غير النشطين (90 يوم).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5344269"/>
            <a:ext cx="690785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الهدف: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رفع معدل الاحتفاظ بنسبة 15%.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7650803" y="4839444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650803" y="5344269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30956" y="982563"/>
            <a:ext cx="11351418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1.4 معدل الاحتفاظ بالعملاء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11477625" y="982563"/>
            <a:ext cx="142875" cy="10382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72494"/>
            <a:ext cx="5286375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44081"/>
            <a:ext cx="29051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82256"/>
            <a:ext cx="29051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9195" y="3844081"/>
            <a:ext cx="1577429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60302" y="4482256"/>
            <a:ext cx="816322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6753225" y="2991594"/>
            <a:ext cx="4448175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$825K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753225" y="4496544"/>
            <a:ext cx="44481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إجمالي خسارة الاحتيال المشتبه به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753225" y="5172819"/>
            <a:ext cx="44481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أوروبا وأمريكا اللاتينية هما الأكثر تضرراً.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3043981"/>
            <a:ext cx="555069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الاحتيال حسب الشريحة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5110906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الحل: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تفعيل نظام Fraud Scoring تلقائي لخفض الخسائر بنسبة 40%.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3667125" y="3834556"/>
            <a:ext cx="2190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Consumer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3667125" y="4472731"/>
            <a:ext cx="2190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Corporate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30956" y="982563"/>
            <a:ext cx="11351418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1.5 تحليل أنماط الاحتيال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11477625" y="982563"/>
            <a:ext cx="142875" cy="10382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571500" y="3082081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تحسين الأسواق: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تخصيص 15% من الميزانية لأقوى 3 أسواق (USA, PR, LATAM).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3586906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برامج الولاء: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استهداف عملاء Corporate ببرامج مخصصة لرفع المبيعات بنسبة 20%.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4091731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إدارة المخزون: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زيادة المخزون قبل شهر يناير لتفادي الـ Stockouts.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4596556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الأمان المالي: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تطبيق أنظمة تقييم الاحتيال التلقائية في الأسواق عالية الخطورة.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5101381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تنشيط العملاء:</a:t>
            </a: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حملات إعادة استهداف بريدية للعملاء المنقطعين منذ 3 أشهر.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1410950" y="3082081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11410950" y="3586906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1410950" y="4091731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11410950" y="4596556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11410950" y="5101381"/>
            <a:ext cx="209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30956" y="982563"/>
            <a:ext cx="11351418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ملخص التوصيات الاستراتيجية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11477625" y="982563"/>
            <a:ext cx="142875" cy="10382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295275" y="1795462"/>
            <a:ext cx="11601450" cy="200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QUESTIONS?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295275" y="3995737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شكراً لكم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571500" y="53292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فريق تحليل البيانات | مشروع DataCo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9800" y="4106019"/>
            <a:ext cx="17907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571500" y="4113162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https://www.wallmur.com/media/catalog/product/cache/e658f239f2a32c1e7c51d6794c452389/1/5/15565734_crop.jpg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434652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www.wallmur.com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30956" y="982563"/>
            <a:ext cx="11351418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Image Sources</a:t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11477625" y="982563"/>
            <a:ext cx="142875" cy="10382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